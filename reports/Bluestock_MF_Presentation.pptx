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13" r:id="rId4"/>
  </p:sldMasterIdLst>
  <p:notesMasterIdLst>
    <p:notesMasterId r:id="rId20"/>
  </p:notesMasterIdLst>
  <p:handoutMasterIdLst>
    <p:handoutMasterId r:id="rId21"/>
  </p:handout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1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30"/>
  </p:normalViewPr>
  <p:slideViewPr>
    <p:cSldViewPr showGuides="1">
      <p:cViewPr varScale="1">
        <p:scale>
          <a:sx n="79" d="100"/>
          <a:sy n="79" d="100"/>
        </p:scale>
        <p:origin x="110" y="3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90" d="100"/>
          <a:sy n="90" d="100"/>
        </p:scale>
        <p:origin x="2920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2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5F44E88-89D9-49CC-9E37-1AF77A031198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AC2C24E-B95E-481D-968E-0BDCFC72F656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17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385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3DFFD80-41C6-4EAA-B049-EE90EA550127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70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44210B3C-79E3-495A-B2C3-EF766F409D04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86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6235515-DA3D-4D9A-9B02-44E2CBD9110F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3613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852BD0B2-E7A7-4B81-8BAF-4B92BD6A4310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31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0E657DB-59AB-47CC-B4C7-A245A3C76BB1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393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1415DC98-F527-4737-A5B9-3597210FA2F7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496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188889-44B4-42BD-84DC-2D1A93FD44C7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99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A40708-E793-490B-9201-425C8D1F325C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2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C1968991-530B-4F8D-80FE-2192BD2DD5A5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0176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23477E6-5CE8-4544-92C7-AEB7D166FD7D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45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EB29E-E91D-4BC9-BE3F-394F6FDC9AC7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03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AD7DA-2107-4637-8C8D-3B775970879B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4667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59F5542-E2F9-4DC1-8AB7-8E5D8714BD21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2417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597AFA7-1C4B-4AAF-9FD8-61D1DA4C999A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1670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5F7DF4-8BE0-4832-9230-78DDDEC4B6DD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893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DD3D21CC-B9C8-49F6-ADE7-6BF4A546A74E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85427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40723AE1-14A9-42B1-9F02-B524DA830762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216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C1166B1E-1AFA-4A7F-9646-409FBAA0A887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62236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2240801-1142-4411-9AA3-00BC0B3F40DA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992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CFA9782-9FBA-47E1-A36A-E75622F7046E}" type="datetime1">
              <a:rPr lang="en-US" smtClean="0"/>
              <a:t>6/5/2026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470453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AA28231D-ABE1-4859-B037-5D42FA8F4858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47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AAA916C4-9175-479B-9610-7E06A2EDFEE0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19643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AD2788-6390-4160-9542-0F1C554F0165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498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E6CDFB-328D-4B9A-B955-967B0C6194A8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6115477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A994DB4-9653-4FD4-8A14-5DAFB68B0E92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114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BECFC22-7333-427C-A7BB-2A423772B9A0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600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B78D85C6-8657-43F4-BE68-8F80962A5435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767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9D65A6B-59CD-4A95-97A1-5003425BCE52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34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AEBE612C-E459-4252-B286-C98BDF4C5E92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242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D8568ADA-B78D-4076-A9DF-6C8E04B71243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5829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E3ED234F-BBE0-48A3-AC31-D10A1F3BC187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9622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A0D3809-2B53-482D-AD1B-8B09C4B2656C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194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154F04C1-B149-48D4-90B8-E64820B32F59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20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1AED7B4-8DB4-40B0-90CF-49D3708442C0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74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861E720-2EA4-4832-8DC2-DC3D2BDBB07C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051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B608D6C-D0F1-479F-911E-8569D2F1ED15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1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BCFCC67-CBC1-48BE-A467-33E284003C9C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551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BF01E07-9F97-42AE-9FE9-3EAD856BDB2A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7991821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34B2334-B27F-4DA0-8A92-599603070D6B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160219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B8D85F-DE7D-4C09-9BDD-03377313F809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2918804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8CAF44C-1683-44E3-97C5-DF51C69BF7AA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439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150565-788C-402B-B078-3F96B9A231B8}" type="datetime1">
              <a:rPr lang="en-US" smtClean="0"/>
              <a:t>6/5/2026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35362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7B20C69-CB4E-44F7-A408-67C55627795C}" type="datetime1">
              <a:rPr lang="en-US" smtClean="0"/>
              <a:t>6/5/2026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1525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0C8FE45-F91B-4375-B362-4DC6F9A2A304}" type="datetime1">
              <a:rPr lang="en-US" smtClean="0"/>
              <a:t>6/5/2026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99015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572A1522-8F1E-408E-ABA2-6F5B206582B8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65434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E19A776-5AE6-4251-8560-C6066D0B46D6}" type="datetime1">
              <a:rPr lang="en-US" smtClean="0"/>
              <a:t>6/5/2026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8313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95FFA61-E651-4E50-A159-710A5ED7E6FE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20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E9E0D87-B7D0-4C2E-BAD1-97A555313A20}" type="datetime1">
              <a:rPr lang="en-US" smtClean="0"/>
              <a:t>6/5/2026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364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29814657-813A-4D7B-A2F8-E573BA1645D3}" type="datetime1">
              <a:rPr lang="en-US" smtClean="0"/>
              <a:t>6/5/2026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49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15" r:id="rId2"/>
    <p:sldLayoutId id="2147484114" r:id="rId3"/>
    <p:sldLayoutId id="2147484116" r:id="rId4"/>
    <p:sldLayoutId id="2147484117" r:id="rId5"/>
    <p:sldLayoutId id="2147484118" r:id="rId6"/>
    <p:sldLayoutId id="2147484120" r:id="rId7"/>
    <p:sldLayoutId id="2147484121" r:id="rId8"/>
    <p:sldLayoutId id="2147484122" r:id="rId9"/>
    <p:sldLayoutId id="2147484169" r:id="rId10"/>
    <p:sldLayoutId id="2147484124" r:id="rId11"/>
    <p:sldLayoutId id="2147484125" r:id="rId12"/>
    <p:sldLayoutId id="2147484126" r:id="rId13"/>
    <p:sldLayoutId id="2147484127" r:id="rId14"/>
    <p:sldLayoutId id="2147484128" r:id="rId15"/>
    <p:sldLayoutId id="2147484129" r:id="rId16"/>
    <p:sldLayoutId id="2147484130" r:id="rId17"/>
    <p:sldLayoutId id="2147484131" r:id="rId18"/>
    <p:sldLayoutId id="2147484132" r:id="rId19"/>
    <p:sldLayoutId id="2147484133" r:id="rId20"/>
    <p:sldLayoutId id="2147484134" r:id="rId21"/>
    <p:sldLayoutId id="2147484135" r:id="rId22"/>
    <p:sldLayoutId id="2147484136" r:id="rId23"/>
    <p:sldLayoutId id="2147484137" r:id="rId24"/>
    <p:sldLayoutId id="2147484138" r:id="rId25"/>
    <p:sldLayoutId id="2147484139" r:id="rId26"/>
    <p:sldLayoutId id="2147484140" r:id="rId27"/>
    <p:sldLayoutId id="2147484141" r:id="rId28"/>
    <p:sldLayoutId id="2147484142" r:id="rId29"/>
    <p:sldLayoutId id="2147484143" r:id="rId30"/>
    <p:sldLayoutId id="2147484144" r:id="rId31"/>
    <p:sldLayoutId id="2147484145" r:id="rId32"/>
    <p:sldLayoutId id="2147484146" r:id="rId33"/>
    <p:sldLayoutId id="2147484147" r:id="rId34"/>
    <p:sldLayoutId id="2147484148" r:id="rId35"/>
    <p:sldLayoutId id="2147484149" r:id="rId36"/>
    <p:sldLayoutId id="2147484150" r:id="rId37"/>
    <p:sldLayoutId id="2147484152" r:id="rId38"/>
    <p:sldLayoutId id="2147484153" r:id="rId39"/>
    <p:sldLayoutId id="2147484157" r:id="rId40"/>
    <p:sldLayoutId id="2147484158" r:id="rId41"/>
    <p:sldLayoutId id="2147484159" r:id="rId42"/>
    <p:sldLayoutId id="2147484160" r:id="rId43"/>
    <p:sldLayoutId id="2147484161" r:id="rId44"/>
    <p:sldLayoutId id="2147484162" r:id="rId45"/>
    <p:sldLayoutId id="2147484163" r:id="rId46"/>
    <p:sldLayoutId id="2147484164" r:id="rId47"/>
    <p:sldLayoutId id="2147484165" r:id="rId48"/>
    <p:sldLayoutId id="2147484166" r:id="rId49"/>
    <p:sldLayoutId id="2147484167" r:id="rId50"/>
    <p:sldLayoutId id="2147484168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karanveersingh05/)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mutualfundsanalytics-bykaranveersingh.streamlit.app/" TargetMode="External"/><Relationship Id="rId4" Type="http://schemas.openxmlformats.org/officeDocument/2006/relationships/hyperlink" Target="https://github.com/karanveersingh05/MutualFundsAnalytics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karanveersingh05/" TargetMode="External"/><Relationship Id="rId2" Type="http://schemas.openxmlformats.org/officeDocument/2006/relationships/hyperlink" Target="https://github.com/karanveersingh05/MutualFundsAnalytic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utualfundsanalytics-bykaranveersingh.streamlit.app/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F4B6-3F85-6E67-ED81-21244368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0CBC46-76F5-CB3F-9BF0-DE7BBD3C6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1171986" cy="4007406"/>
          </a:xfrm>
        </p:spPr>
        <p:txBody>
          <a:bodyPr>
            <a:noAutofit/>
          </a:bodyPr>
          <a:lstStyle/>
          <a:p>
            <a:r>
              <a:rPr lang="en-IN" sz="6000" dirty="0"/>
              <a:t>Mutual Funds Analytics: </a:t>
            </a:r>
            <a:br>
              <a:rPr lang="en-IN" sz="6000" dirty="0"/>
            </a:br>
            <a:r>
              <a:rPr lang="en-IN" sz="6000" dirty="0"/>
              <a:t>A Comprehensive Data Platform</a:t>
            </a:r>
            <a:br>
              <a:rPr lang="en-IN" sz="6000" dirty="0"/>
            </a:br>
            <a:endParaRPr lang="en-US" sz="600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CA5C5AD-7278-E875-15B7-835123AC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140968"/>
            <a:ext cx="9144001" cy="576064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End-to-End ETL, Quantitative Modeling, and Interactive Visualization</a:t>
            </a:r>
          </a:p>
        </p:txBody>
      </p:sp>
      <p:sp>
        <p:nvSpPr>
          <p:cNvPr id="2" name="Subtitle 3">
            <a:extLst>
              <a:ext uri="{FF2B5EF4-FFF2-40B4-BE49-F238E27FC236}">
                <a16:creationId xmlns:a16="http://schemas.microsoft.com/office/drawing/2014/main" id="{2A54829C-3D92-F578-5B56-243AA6AA46C0}"/>
              </a:ext>
            </a:extLst>
          </p:cNvPr>
          <p:cNvSpPr txBox="1">
            <a:spLocks/>
          </p:cNvSpPr>
          <p:nvPr/>
        </p:nvSpPr>
        <p:spPr>
          <a:xfrm>
            <a:off x="1523999" y="4605229"/>
            <a:ext cx="9144001" cy="5760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0" i="0" kern="120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dirty="0"/>
              <a:t>Karan Veer Singh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5898F6-18EE-90A4-9F8B-1AD2732B9D0D}"/>
              </a:ext>
            </a:extLst>
          </p:cNvPr>
          <p:cNvSpPr txBox="1"/>
          <p:nvPr/>
        </p:nvSpPr>
        <p:spPr>
          <a:xfrm>
            <a:off x="2261827" y="5761538"/>
            <a:ext cx="7668344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IN" b="0" dirty="0">
                <a:solidFill>
                  <a:srgbClr val="CCCCCC"/>
                </a:solidFill>
                <a:effectLst/>
                <a:latin typeface="Consolas" panose="020B0609020204030204" pitchFamily="49" charset="0"/>
                <a:hlinkClick r:id="rId3"/>
              </a:rPr>
              <a:t>[LinkedIn Profile] </a:t>
            </a:r>
            <a:r>
              <a:rPr lang="en-IN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IN" b="0" dirty="0">
                <a:solidFill>
                  <a:srgbClr val="CCCCCC"/>
                </a:solidFill>
                <a:effectLst/>
                <a:latin typeface="Consolas" panose="020B0609020204030204" pitchFamily="49" charset="0"/>
                <a:hlinkClick r:id="rId4"/>
              </a:rPr>
              <a:t>[</a:t>
            </a:r>
            <a:r>
              <a:rPr lang="en-IN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hlinkClick r:id="rId4"/>
              </a:rPr>
              <a:t>GitHub Repository</a:t>
            </a:r>
            <a:r>
              <a:rPr lang="en-IN" b="0" dirty="0">
                <a:solidFill>
                  <a:srgbClr val="CCCCCC"/>
                </a:solidFill>
                <a:effectLst/>
                <a:latin typeface="Consolas" panose="020B0609020204030204" pitchFamily="49" charset="0"/>
                <a:hlinkClick r:id="rId4"/>
              </a:rPr>
              <a:t>]</a:t>
            </a:r>
            <a:r>
              <a:rPr lang="en-IN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IN" b="0" dirty="0">
                <a:solidFill>
                  <a:srgbClr val="CCCCCC"/>
                </a:solidFill>
                <a:effectLst/>
                <a:latin typeface="Consolas" panose="020B0609020204030204" pitchFamily="49" charset="0"/>
                <a:hlinkClick r:id="rId5"/>
              </a:rPr>
              <a:t>[Live Project]</a:t>
            </a:r>
            <a:endParaRPr lang="en-IN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452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0A453-16D7-1F75-785F-11B01E8D4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Executive Summary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B7BD-1E2E-0DF1-4C8C-C160EC7DF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600" dirty="0"/>
              <a:t>Transforming raw financial data into actionable investment intelligence.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The Challenge:</a:t>
            </a:r>
            <a:r>
              <a:rPr lang="en-IN" sz="1600" dirty="0"/>
              <a:t> Retail investors lack institutional-grade analytics to evaluate Indian mutual funds.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The Solution:</a:t>
            </a:r>
            <a:r>
              <a:rPr lang="en-IN" sz="1600" dirty="0"/>
              <a:t> An automated ETL pipeline and interactive dashboard offering deep risk-return analysis.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Key Capabilities:</a:t>
            </a:r>
            <a:r>
              <a:rPr lang="en-IN" sz="1600" dirty="0"/>
              <a:t> 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IN" sz="1600" dirty="0"/>
              <a:t>Automated daily NAV ingestion via AMFI.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IN" sz="1600" dirty="0"/>
              <a:t>Factor-weighted scoring models (Alpha, Sharpe, Drawdown).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IN" sz="1600" dirty="0"/>
              <a:t>Advanced quantitative projections (Monte Carlo, Markowitz).</a:t>
            </a:r>
          </a:p>
          <a:p>
            <a:r>
              <a:rPr lang="en-IN" sz="1600" b="1" dirty="0"/>
              <a:t>Business Impact:</a:t>
            </a:r>
            <a:r>
              <a:rPr lang="en-IN" sz="1600" dirty="0"/>
              <a:t> Empowers data-driven portfolio allocation and identifies at-risk investor segments.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5436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BE5CF-C0CB-6C69-6A12-A13E0E197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The Market Opportunity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8A63C-1C71-3A8B-750C-323D7C67A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600" dirty="0"/>
              <a:t>The Indian Mutual Fund industry is experiencing exponential growth, demanding sophisticated tracking.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	 </a:t>
            </a:r>
            <a:r>
              <a:rPr lang="en-IN" sz="1600" b="1" dirty="0"/>
              <a:t>AUM Surge:</a:t>
            </a:r>
            <a:r>
              <a:rPr lang="en-IN" sz="1600" dirty="0"/>
              <a:t> Industry AUM has crossed massive milestones, driven by retail participation.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   	</a:t>
            </a:r>
            <a:r>
              <a:rPr lang="en-IN" sz="1600" b="1" dirty="0"/>
              <a:t>The SIP Revolution:</a:t>
            </a:r>
            <a:r>
              <a:rPr lang="en-IN" sz="1600" dirty="0"/>
              <a:t> Systematic Investment Plans (SIP) form the backbone of retail inflows.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   	</a:t>
            </a:r>
            <a:r>
              <a:rPr lang="en-IN" sz="1600" b="1" dirty="0"/>
              <a:t>Data Fragmentation:</a:t>
            </a:r>
            <a:r>
              <a:rPr lang="en-IN" sz="1600" dirty="0"/>
              <a:t> Despite the growth, performance data remains scattered across multiple AMC domains 	and regulatory bodies.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  	</a:t>
            </a:r>
            <a:r>
              <a:rPr lang="en-IN" sz="1600" b="1" dirty="0"/>
              <a:t>Need for Centralization:</a:t>
            </a:r>
            <a:r>
              <a:rPr lang="en-IN" sz="1600" dirty="0"/>
              <a:t> A unified data warehouse is critical for comparative analysis across 40+ </a:t>
            </a:r>
            <a:r>
              <a:rPr lang="en-IN" sz="1600" dirty="0" err="1"/>
              <a:t>bluechip</a:t>
            </a:r>
            <a:r>
              <a:rPr lang="en-IN" sz="1600" dirty="0"/>
              <a:t> 	and midcap schemes.</a:t>
            </a: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56495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661B7-DAF8-C2B6-2252-43446896D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800" b="1" dirty="0"/>
              <a:t>Architecture &amp; Technology Stack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42F80-FB00-18A8-E5F3-4FEAAF003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600" dirty="0"/>
              <a:t>A robust, automated, and scalable Python-based data infrastructure.</a:t>
            </a:r>
          </a:p>
          <a:p>
            <a:r>
              <a:rPr lang="en-IN" sz="1600" dirty="0"/>
              <a:t>	   </a:t>
            </a:r>
            <a:r>
              <a:rPr lang="en-IN" sz="1600" b="1" dirty="0"/>
              <a:t>Languages &amp; Core:</a:t>
            </a:r>
            <a:r>
              <a:rPr lang="en-IN" sz="1600" dirty="0"/>
              <a:t> Python, SQL</a:t>
            </a:r>
          </a:p>
          <a:p>
            <a:r>
              <a:rPr lang="en-IN" sz="1600" dirty="0"/>
              <a:t>	   </a:t>
            </a:r>
            <a:r>
              <a:rPr lang="en-IN" sz="1600" b="1" dirty="0"/>
              <a:t>ETL &amp; Processing:</a:t>
            </a:r>
            <a:r>
              <a:rPr lang="en-IN" sz="1600" dirty="0"/>
              <a:t> Pandas, NumPy, SQLite3, Schedule</a:t>
            </a:r>
          </a:p>
          <a:p>
            <a:r>
              <a:rPr lang="en-IN" sz="1600" dirty="0"/>
              <a:t>  	  </a:t>
            </a:r>
            <a:r>
              <a:rPr lang="en-IN" sz="1600" b="1" dirty="0"/>
              <a:t>Visualization:</a:t>
            </a:r>
            <a:r>
              <a:rPr lang="en-IN" sz="1600" dirty="0"/>
              <a:t> Plotly, Seaborn, Matplotlib, </a:t>
            </a:r>
            <a:r>
              <a:rPr lang="en-IN" sz="1600" dirty="0" err="1"/>
              <a:t>Streamlit</a:t>
            </a:r>
            <a:endParaRPr lang="en-IN" sz="1600" dirty="0"/>
          </a:p>
          <a:p>
            <a:r>
              <a:rPr lang="en-IN" sz="1600" dirty="0"/>
              <a:t>   	  </a:t>
            </a:r>
            <a:r>
              <a:rPr lang="en-IN" sz="1600" b="1" dirty="0"/>
              <a:t>Automation:</a:t>
            </a:r>
            <a:r>
              <a:rPr lang="en-IN" sz="1600" dirty="0"/>
              <a:t> Windows Batch scripting, </a:t>
            </a:r>
            <a:r>
              <a:rPr lang="en-IN" sz="1600" dirty="0" err="1"/>
              <a:t>Smtplib</a:t>
            </a:r>
            <a:r>
              <a:rPr lang="en-IN" sz="1600" dirty="0"/>
              <a:t> (HTML Emails)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36E1FA-265E-529E-543E-C745B98B5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04" y="1638761"/>
            <a:ext cx="3888432" cy="493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439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E944-1BCF-2512-FE97-60E3B50AB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</a:t>
            </a:r>
            <a:r>
              <a:rPr lang="en-IN" b="1" dirty="0" err="1"/>
              <a:t>Modeling</a:t>
            </a:r>
            <a:r>
              <a:rPr lang="en-IN" b="1" dirty="0"/>
              <a:t> &amp; Schema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A3A32-8122-C3D3-9E56-BD8511E39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 A normalized Star Schema designed for high-performance analytical queries.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BE6C4F-2CF2-F85C-5095-EBC585D79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347" y="2204864"/>
            <a:ext cx="8400256" cy="454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373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83502-C630-1CBE-582D-6B1C2B579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800" b="1" dirty="0"/>
              <a:t>Core Analytics - Risk vs. Return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1307B-2EB8-9BB8-52F1-30E5C0E7D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Moving beyond simple CAGR to true risk-adjusted performance evaluation.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Sharpe Ratio Calculation:</a:t>
            </a:r>
            <a:r>
              <a:rPr lang="en-IN" sz="1800" dirty="0"/>
              <a:t> Measuring excess return per unit of volatility.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Alpha &amp; Beta:</a:t>
            </a:r>
            <a:r>
              <a:rPr lang="en-IN" sz="1800" dirty="0"/>
              <a:t> Tracking fund manager skill against benchmark indices (Nifty 50, Nifty Midcap 150).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Maximum Drawdown:</a:t>
            </a:r>
            <a:r>
              <a:rPr lang="en-IN" sz="1800" dirty="0"/>
              <a:t> Stress-testing funds by evaluating historical peak-to-trough declines.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The </a:t>
            </a:r>
            <a:r>
              <a:rPr lang="en-IN" sz="1800" b="1" dirty="0" err="1"/>
              <a:t>Bluestock</a:t>
            </a:r>
            <a:r>
              <a:rPr lang="en-IN" sz="1800" b="1" dirty="0"/>
              <a:t> Composite Score:</a:t>
            </a:r>
            <a:r>
              <a:rPr lang="en-IN" sz="1800" dirty="0"/>
              <a:t> A proprietary 0-100 ranking system weighting returns against expense    	ratios and risk metrics.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163484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470FB-AB43-C22D-4F65-2F5189001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800" b="1" dirty="0"/>
              <a:t>Investor </a:t>
            </a:r>
            <a:r>
              <a:rPr lang="en-IN" sz="4800" b="1" dirty="0" err="1"/>
              <a:t>Behavioral</a:t>
            </a:r>
            <a:r>
              <a:rPr lang="en-IN" sz="4800" b="1" dirty="0"/>
              <a:t> Analytics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9108E-535C-E8CA-3C3F-33E575E1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 Decoding retail transaction patterns to optimize client retention.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Geographic Distribution:</a:t>
            </a:r>
            <a:r>
              <a:rPr lang="en-IN" sz="1800" dirty="0"/>
              <a:t> Identifying high-growth Tier 2 and Tier 3 cities driving AUM expansion.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Cohort Analysis:</a:t>
            </a:r>
            <a:r>
              <a:rPr lang="en-IN" sz="1800" dirty="0"/>
              <a:t> Grouping investors by acquisition year to track lifetime value and average ticket size.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SIP Continuity Flagging:</a:t>
            </a:r>
            <a:r>
              <a:rPr lang="en-IN" sz="1800" dirty="0"/>
              <a:t> </a:t>
            </a:r>
          </a:p>
          <a:p>
            <a:r>
              <a:rPr lang="en-IN" sz="1800" dirty="0"/>
              <a:t>       Algorithmic detection of "at-risk" investors.</a:t>
            </a:r>
          </a:p>
          <a:p>
            <a:r>
              <a:rPr lang="en-IN" sz="1800" dirty="0"/>
              <a:t>       Flags accounts with inter-transaction gaps exceeding 35 days.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2072425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9D792-5A70-388F-F3D1-EC5A08166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1388008" cy="762001"/>
          </a:xfrm>
        </p:spPr>
        <p:txBody>
          <a:bodyPr/>
          <a:lstStyle/>
          <a:p>
            <a:r>
              <a:rPr lang="en-IN" sz="3600" b="1" dirty="0"/>
              <a:t>Advanced </a:t>
            </a:r>
            <a:r>
              <a:rPr lang="en-IN" sz="3600" b="1" dirty="0" err="1"/>
              <a:t>Modeling</a:t>
            </a:r>
            <a:r>
              <a:rPr lang="en-IN" sz="3600" b="1" dirty="0"/>
              <a:t> - Monte Carlo Simulations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27A13-8EAC-D2CE-30F5-281428982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b="1" dirty="0"/>
              <a:t>Key Message:</a:t>
            </a:r>
            <a:r>
              <a:rPr lang="en-IN" sz="1800" dirty="0"/>
              <a:t> Projecting future NAVs utilizing Geometric Brownian Motion.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Methodology:</a:t>
            </a:r>
            <a:r>
              <a:rPr lang="en-IN" sz="1800" dirty="0"/>
              <a:t> </a:t>
            </a:r>
          </a:p>
          <a:p>
            <a:r>
              <a:rPr lang="en-IN" sz="1800" dirty="0"/>
              <a:t>       Extracted historical daily log returns, drift, and volatility.</a:t>
            </a:r>
          </a:p>
          <a:p>
            <a:r>
              <a:rPr lang="en-IN" sz="1800" dirty="0"/>
              <a:t>       Simulated 1,000 unique market paths spanning 1,260 trading days (5 years).</a:t>
            </a:r>
          </a:p>
          <a:p>
            <a:r>
              <a:rPr lang="en-IN" sz="1800" dirty="0"/>
              <a:t>  </a:t>
            </a:r>
            <a:r>
              <a:rPr lang="en-IN" sz="1800" b="1" dirty="0"/>
              <a:t>Outputs:</a:t>
            </a:r>
            <a:r>
              <a:rPr lang="en-IN" sz="1800" dirty="0"/>
              <a:t> </a:t>
            </a:r>
          </a:p>
          <a:p>
            <a:r>
              <a:rPr lang="en-IN" sz="1800" dirty="0"/>
              <a:t>       Uncertainty bands at the 5th, 50th, and 95th percentiles.</a:t>
            </a:r>
          </a:p>
          <a:p>
            <a:r>
              <a:rPr lang="en-IN" sz="1800" dirty="0"/>
              <a:t>       Allows risk-averse investors to visualize "worst-case" scenario baselines.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856788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3D5AE-A5F8-7638-6DE2-C91F42DCA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1316000" cy="762001"/>
          </a:xfrm>
        </p:spPr>
        <p:txBody>
          <a:bodyPr/>
          <a:lstStyle/>
          <a:p>
            <a:r>
              <a:rPr lang="en-IN" sz="4400" b="1" dirty="0"/>
              <a:t>Modern Portfolio Theory (Markowitz)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44D41-0DD1-7038-D657-12ED120F8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600" b="1" dirty="0"/>
              <a:t>Key Message:</a:t>
            </a:r>
            <a:r>
              <a:rPr lang="en-IN" sz="1600" dirty="0"/>
              <a:t> Mathematically optimizing asset allocation across a diversified basket of funds.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The Approach:</a:t>
            </a:r>
            <a:r>
              <a:rPr lang="en-IN" sz="1600" dirty="0"/>
              <a:t> Simulated 10,000 distinct portfolio weightings across Large Cap, Mid Cap, Small Cap, and Debt funds.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Efficient Frontier Construction:</a:t>
            </a:r>
            <a:r>
              <a:rPr lang="en-IN" sz="1600" dirty="0"/>
              <a:t> Plotted Expected Risk against Expected Return.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Key Deliverables:</a:t>
            </a:r>
            <a:r>
              <a:rPr lang="en-IN" sz="1600" dirty="0"/>
              <a:t> </a:t>
            </a:r>
          </a:p>
          <a:p>
            <a:r>
              <a:rPr lang="en-IN" sz="1600" dirty="0"/>
              <a:t>       Identified the absolute </a:t>
            </a:r>
            <a:r>
              <a:rPr lang="en-IN" sz="1600" b="1" dirty="0"/>
              <a:t>Maximum Sharpe Ratio</a:t>
            </a:r>
            <a:r>
              <a:rPr lang="en-IN" sz="1600" dirty="0"/>
              <a:t> portfolio.</a:t>
            </a:r>
          </a:p>
          <a:p>
            <a:r>
              <a:rPr lang="en-IN" sz="1600" dirty="0"/>
              <a:t>       Identified the </a:t>
            </a:r>
            <a:r>
              <a:rPr lang="en-IN" sz="1600" b="1" dirty="0"/>
              <a:t>Minimum Volatility</a:t>
            </a:r>
            <a:r>
              <a:rPr lang="en-IN" sz="1600" dirty="0"/>
              <a:t> portfolio for conservative clients.</a:t>
            </a: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9218038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229D-A272-1932-EBFE-A3A45E70B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336" y="685800"/>
            <a:ext cx="11881320" cy="762001"/>
          </a:xfrm>
        </p:spPr>
        <p:txBody>
          <a:bodyPr/>
          <a:lstStyle/>
          <a:p>
            <a:r>
              <a:rPr lang="en-IN" sz="4400" b="1" dirty="0"/>
              <a:t>The </a:t>
            </a:r>
            <a:r>
              <a:rPr lang="en-IN" sz="4400" b="1" dirty="0" err="1"/>
              <a:t>Streamlit</a:t>
            </a:r>
            <a:r>
              <a:rPr lang="en-IN" sz="4400" b="1" dirty="0"/>
              <a:t> Interactive Dashboard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B379B-BC45-D2F6-23D4-358E917FD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Delivering the analytics engine directly to the user through a premium interface.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Apple-Inspired Aesthetics:</a:t>
            </a:r>
            <a:r>
              <a:rPr lang="en-IN" sz="1800" dirty="0"/>
              <a:t> Clean layout, Sans-Serif typography, and minimalist metrics.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Dynamic Filtering:</a:t>
            </a:r>
            <a:r>
              <a:rPr lang="en-IN" sz="1800" dirty="0"/>
              <a:t> Real-time cross-filtering by AMC and Fund Category.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Key Modules:</a:t>
            </a:r>
            <a:r>
              <a:rPr lang="en-IN" sz="1800" dirty="0"/>
              <a:t> </a:t>
            </a:r>
          </a:p>
          <a:p>
            <a:r>
              <a:rPr lang="en-IN" sz="1800" dirty="0"/>
              <a:t>       Macro Industry Overview</a:t>
            </a:r>
          </a:p>
          <a:p>
            <a:r>
              <a:rPr lang="en-IN" sz="1800" dirty="0"/>
              <a:t>       Fund Performance Scatter Plots</a:t>
            </a:r>
          </a:p>
          <a:p>
            <a:r>
              <a:rPr lang="en-IN" sz="1800" dirty="0"/>
              <a:t>       Investor Demographics Breakdown</a:t>
            </a:r>
          </a:p>
          <a:p>
            <a:r>
              <a:rPr lang="en-IN" sz="1800" dirty="0"/>
              <a:t>       Systematic Investment (SIP) Trends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6510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F4EBD-1C0E-EC90-42B8-C3C46396F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1171984" cy="762001"/>
          </a:xfrm>
        </p:spPr>
        <p:txBody>
          <a:bodyPr/>
          <a:lstStyle/>
          <a:p>
            <a:r>
              <a:rPr lang="en-IN" sz="4800" b="1" dirty="0"/>
              <a:t>Pipeline Automation &amp; Reporting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48FDA-BB35-36D4-ACA7-43A0D3B73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600" dirty="0"/>
              <a:t> A zero-touch operational ecosystem.</a:t>
            </a:r>
          </a:p>
          <a:p>
            <a:r>
              <a:rPr lang="en-IN" sz="1600" dirty="0"/>
              <a:t>   </a:t>
            </a:r>
            <a:r>
              <a:rPr lang="en-IN" sz="1600" b="1" dirty="0" err="1"/>
              <a:t>Daemonized</a:t>
            </a:r>
            <a:r>
              <a:rPr lang="en-IN" sz="1600" b="1" dirty="0"/>
              <a:t> Scheduling:</a:t>
            </a:r>
            <a:r>
              <a:rPr lang="en-IN" sz="1600" dirty="0"/>
              <a:t> ETL pipeline programmed to auto-execute via Python schedulers.</a:t>
            </a:r>
          </a:p>
          <a:p>
            <a:r>
              <a:rPr lang="en-IN" sz="1600" dirty="0"/>
              <a:t>   </a:t>
            </a:r>
            <a:r>
              <a:rPr lang="en-IN" sz="1600" b="1" dirty="0"/>
              <a:t>HTML Email Engine:</a:t>
            </a:r>
            <a:r>
              <a:rPr lang="en-IN" sz="1600" dirty="0"/>
              <a:t> </a:t>
            </a:r>
          </a:p>
          <a:p>
            <a:r>
              <a:rPr lang="en-IN" sz="1600" dirty="0"/>
              <a:t>       Automatically parses the top 5 funds from the newest Composite Scorecard.</a:t>
            </a:r>
          </a:p>
          <a:p>
            <a:r>
              <a:rPr lang="en-IN" sz="1600" dirty="0"/>
              <a:t>       Generates a styled HTML newsletter.</a:t>
            </a:r>
          </a:p>
          <a:p>
            <a:r>
              <a:rPr lang="en-IN" sz="1600" dirty="0"/>
              <a:t>       Transmits silently via SMTP for weekly stakeholder updates.</a:t>
            </a:r>
          </a:p>
          <a:p>
            <a:br>
              <a:rPr lang="en-IN" sz="1600" dirty="0"/>
            </a:b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47451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DEDAA-297A-0BA6-8ADE-E07841835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1316000" cy="762001"/>
          </a:xfrm>
        </p:spPr>
        <p:txBody>
          <a:bodyPr/>
          <a:lstStyle/>
          <a:p>
            <a:r>
              <a:rPr lang="en-IN" sz="4800" b="1" dirty="0"/>
              <a:t>Business Value &amp; Strategic Impact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62CF1-31E1-FF6D-54AF-A04A4B506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How this platform serves stakeholders.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For Retail Investors:</a:t>
            </a:r>
            <a:r>
              <a:rPr lang="en-IN" sz="1800" dirty="0"/>
              <a:t> Democratizes access to institutional metrics like Alpha, Beta, and Efficient Frontiers.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For AMCs / Brokers:</a:t>
            </a:r>
            <a:r>
              <a:rPr lang="en-IN" sz="1800" dirty="0"/>
              <a:t> Predicts churn via SIP continuity analysis and highlights geographic hotspots.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For Fund Analysts:</a:t>
            </a:r>
            <a:r>
              <a:rPr lang="en-IN" sz="1800" dirty="0"/>
              <a:t> Fully automates the tedious daily task of NAV data cleaning and benchmark alignment.</a:t>
            </a:r>
          </a:p>
          <a:p>
            <a:br>
              <a:rPr lang="en-IN" sz="1800" dirty="0"/>
            </a:b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926488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EB30-3D79-D4F7-5954-C8711D036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1388008" cy="762001"/>
          </a:xfrm>
        </p:spPr>
        <p:txBody>
          <a:bodyPr/>
          <a:lstStyle/>
          <a:p>
            <a:r>
              <a:rPr lang="en-IN" sz="4800" b="1" dirty="0"/>
              <a:t>Technical Challenges Conquered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8FE4A-4655-6C64-5510-3A2A9DFE7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Overcoming real-world data engineering hurdles.</a:t>
            </a:r>
          </a:p>
          <a:p>
            <a:r>
              <a:rPr lang="en-IN" dirty="0"/>
              <a:t>   </a:t>
            </a:r>
            <a:r>
              <a:rPr lang="en-IN" b="1" dirty="0"/>
              <a:t>Missing Weekend NAVs:</a:t>
            </a:r>
            <a:r>
              <a:rPr lang="en-IN" dirty="0"/>
              <a:t> Solved using forward-fill algorithms to ensure accurate daily compounding.</a:t>
            </a:r>
          </a:p>
          <a:p>
            <a:r>
              <a:rPr lang="en-IN" dirty="0"/>
              <a:t>   </a:t>
            </a:r>
            <a:r>
              <a:rPr lang="en-IN" b="1" dirty="0"/>
              <a:t>Column Naming Collisions:</a:t>
            </a:r>
            <a:r>
              <a:rPr lang="en-IN" dirty="0"/>
              <a:t> Resolved `_x` and `_y` merge conflicts through strict schema definitions.</a:t>
            </a:r>
          </a:p>
          <a:p>
            <a:r>
              <a:rPr lang="en-IN" dirty="0"/>
              <a:t>   </a:t>
            </a:r>
            <a:r>
              <a:rPr lang="en-IN" b="1" dirty="0"/>
              <a:t>Headless Matplotlib Generation:</a:t>
            </a:r>
            <a:r>
              <a:rPr lang="en-IN" dirty="0"/>
              <a:t> Engineered the pipeline to use non-interactive backends to prevent GUI crashes during automated </a:t>
            </a:r>
            <a:r>
              <a:rPr lang="en-IN" dirty="0" err="1"/>
              <a:t>cron</a:t>
            </a:r>
            <a:r>
              <a:rPr lang="en-IN" dirty="0"/>
              <a:t> execution.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0309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7769C-2F48-4ACE-E669-77C5DD0F6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Conclusion &amp; Future Scope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9C84E-E826-7CA3-0A03-FD2702972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A highly capable V1 platform with room to scale.</a:t>
            </a:r>
          </a:p>
          <a:p>
            <a:r>
              <a:rPr lang="en-IN" sz="1800" dirty="0"/>
              <a:t>  </a:t>
            </a:r>
            <a:r>
              <a:rPr lang="en-IN" sz="1800" b="1" dirty="0"/>
              <a:t>Current State:</a:t>
            </a:r>
            <a:r>
              <a:rPr lang="en-IN" sz="1800" dirty="0"/>
              <a:t> A fully functioning, end-to-end Python financial data product.</a:t>
            </a:r>
          </a:p>
          <a:p>
            <a:r>
              <a:rPr lang="en-IN" sz="1800" dirty="0"/>
              <a:t>   </a:t>
            </a:r>
            <a:r>
              <a:rPr lang="en-IN" sz="1800" b="1" dirty="0"/>
              <a:t>Future Scope:</a:t>
            </a:r>
            <a:r>
              <a:rPr lang="en-IN" sz="1800" dirty="0"/>
              <a:t> </a:t>
            </a:r>
          </a:p>
          <a:p>
            <a:r>
              <a:rPr lang="en-IN" sz="1800" dirty="0"/>
              <a:t>       Cloud migration (AWS RDS for database, Lambda for ETL).</a:t>
            </a:r>
          </a:p>
          <a:p>
            <a:r>
              <a:rPr lang="en-IN" sz="1800" dirty="0"/>
              <a:t>       Integration of predictive Machine Learning models for NAV forecasting.</a:t>
            </a:r>
          </a:p>
          <a:p>
            <a:r>
              <a:rPr lang="en-IN" sz="1800" dirty="0"/>
              <a:t>       Live order execution APIs via broker gateways.</a:t>
            </a:r>
          </a:p>
          <a:p>
            <a:br>
              <a:rPr lang="en-IN" sz="1800" dirty="0"/>
            </a:br>
            <a:endParaRPr lang="en-IN" sz="1800" dirty="0"/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4098071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4586B-E133-7C1A-E13E-1A94685B9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 Q&amp;A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E3246-3FF8-4B52-E1F7-F985E61E7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8800" dirty="0"/>
              <a:t>Thank You</a:t>
            </a:r>
          </a:p>
          <a:p>
            <a:r>
              <a:rPr lang="en-IN" dirty="0"/>
              <a:t>   </a:t>
            </a:r>
            <a:r>
              <a:rPr lang="en-IN" b="1" dirty="0"/>
              <a:t>Developer:</a:t>
            </a:r>
            <a:r>
              <a:rPr lang="en-IN" dirty="0"/>
              <a:t> Karan Veer Singh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  </a:t>
            </a:r>
            <a:r>
              <a:rPr lang="en-IN" b="1" dirty="0"/>
              <a:t>Repository:</a:t>
            </a:r>
            <a:r>
              <a:rPr lang="en-IN" dirty="0"/>
              <a:t> </a:t>
            </a:r>
            <a:r>
              <a:rPr lang="en-IN" dirty="0">
                <a:hlinkClick r:id="rId2"/>
              </a:rPr>
              <a:t>[github.com/karanveersingh05/</a:t>
            </a:r>
            <a:r>
              <a:rPr lang="en-IN" dirty="0" err="1">
                <a:hlinkClick r:id="rId2"/>
              </a:rPr>
              <a:t>MutualFundsAnalytics</a:t>
            </a:r>
            <a:r>
              <a:rPr lang="en-IN" dirty="0">
                <a:hlinkClick r:id="rId2"/>
              </a:rPr>
              <a:t>]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  </a:t>
            </a:r>
            <a:r>
              <a:rPr lang="en-IN" b="1" dirty="0"/>
              <a:t>LinkedIn:</a:t>
            </a:r>
            <a:r>
              <a:rPr lang="en-IN" dirty="0"/>
              <a:t> </a:t>
            </a:r>
            <a:r>
              <a:rPr lang="en-IN" dirty="0">
                <a:hlinkClick r:id="rId3"/>
              </a:rPr>
              <a:t>[linkedin.com/in/karanveersingh05]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  </a:t>
            </a:r>
            <a:r>
              <a:rPr lang="en-IN" b="1" dirty="0"/>
              <a:t>Live Project</a:t>
            </a:r>
            <a:r>
              <a:rPr lang="en-IN" dirty="0"/>
              <a:t>  </a:t>
            </a:r>
            <a:r>
              <a:rPr lang="en-IN" dirty="0" err="1">
                <a:hlinkClick r:id="rId4"/>
              </a:rPr>
              <a:t>Streamlit.app</a:t>
            </a:r>
            <a:endParaRPr lang="en-IN" dirty="0"/>
          </a:p>
          <a:p>
            <a:r>
              <a:rPr lang="en-IN" dirty="0"/>
              <a:t>   </a:t>
            </a:r>
            <a:r>
              <a:rPr lang="en-IN" b="1" dirty="0"/>
              <a:t>Open for Questions.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173012"/>
      </p:ext>
    </p:extLst>
  </p:cSld>
  <p:clrMapOvr>
    <a:masterClrMapping/>
  </p:clrMapOvr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fcaeb239-e0ad-43c4-9739-4084ddd7c62f_wac_v2" id="{21E82CDE-DB0F-446A-AB1C-C548E4C4E61C}" vid="{FC4C4127-EA88-45F9-9442-09B36E6C91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E0AE46-2EED-447A-8B24-DFD65B70D4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EA42C18-4C38-43BB-8CE3-C963EDA9CBB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C3B381C-6232-408C-B65A-8475398E4C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{A0B8A5AA-E2F7-43BC-8263-49C8BE4A55BE}0f45c1b8-b519-4737-8f12-a18148944ef7-TFfcaeb239-e0ad-43c4-9739-4084ddd7c62fe496f549_win32</Template>
  <TotalTime>32</TotalTime>
  <Words>977</Words>
  <Application>Microsoft Office PowerPoint</Application>
  <PresentationFormat>Widescreen</PresentationFormat>
  <Paragraphs>102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Bahnschrift SemiLight</vt:lpstr>
      <vt:lpstr>Consolas</vt:lpstr>
      <vt:lpstr>Blockwork elegance</vt:lpstr>
      <vt:lpstr>Mutual Funds Analytics:  A Comprehensive Data Platform </vt:lpstr>
      <vt:lpstr>Executive Summary</vt:lpstr>
      <vt:lpstr>The Market Opportunity</vt:lpstr>
      <vt:lpstr>Architecture &amp; Technology Stack</vt:lpstr>
      <vt:lpstr>Data Modeling &amp; Schema</vt:lpstr>
      <vt:lpstr>Core Analytics - Risk vs. Return</vt:lpstr>
      <vt:lpstr>Investor Behavioral Analytics</vt:lpstr>
      <vt:lpstr>Advanced Modeling - Monte Carlo Simulations</vt:lpstr>
      <vt:lpstr>Modern Portfolio Theory (Markowitz)</vt:lpstr>
      <vt:lpstr>The Streamlit Interactive Dashboard</vt:lpstr>
      <vt:lpstr>Pipeline Automation &amp; Reporting</vt:lpstr>
      <vt:lpstr>Business Value &amp; Strategic Impact</vt:lpstr>
      <vt:lpstr>Technical Challenges Conquered</vt:lpstr>
      <vt:lpstr>Conclusion &amp; Future Scope</vt:lpstr>
      <vt:lpstr>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Karan Singh</dc:creator>
  <cp:lastModifiedBy>Karan Singh</cp:lastModifiedBy>
  <cp:revision>2</cp:revision>
  <dcterms:created xsi:type="dcterms:W3CDTF">2026-06-05T18:00:13Z</dcterms:created>
  <dcterms:modified xsi:type="dcterms:W3CDTF">2026-06-05T18:32:51Z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